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810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451381"/>
            <a:ext cx="7884414" cy="4066540"/>
          </a:xfrm>
        </p:spPr>
        <p:txBody>
          <a:bodyPr anchor="b">
            <a:normAutofit/>
          </a:bodyPr>
          <a:lstStyle/>
          <a:p>
            <a:pPr algn="l"/>
            <a:r>
              <a:rPr lang="pt-BR" sz="5700"/>
              <a:t>Configuração de SSL com Let's Encrypt no Apache (XAMPP/Windows)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49" y="4983276"/>
            <a:ext cx="7884414" cy="1126680"/>
          </a:xfrm>
        </p:spPr>
        <p:txBody>
          <a:bodyPr>
            <a:normAutofit/>
          </a:bodyPr>
          <a:lstStyle/>
          <a:p>
            <a:pPr algn="l"/>
            <a:r>
              <a:rPr lang="pt-BR"/>
              <a:t>Exemplo prático com o domínio: ti.grupobarao.com.br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8650" y="4718595"/>
            <a:ext cx="4057650" cy="18288"/>
          </a:xfrm>
          <a:custGeom>
            <a:avLst/>
            <a:gdLst>
              <a:gd name="connsiteX0" fmla="*/ 0 w 4057650"/>
              <a:gd name="connsiteY0" fmla="*/ 0 h 18288"/>
              <a:gd name="connsiteX1" fmla="*/ 757428 w 4057650"/>
              <a:gd name="connsiteY1" fmla="*/ 0 h 18288"/>
              <a:gd name="connsiteX2" fmla="*/ 1474279 w 4057650"/>
              <a:gd name="connsiteY2" fmla="*/ 0 h 18288"/>
              <a:gd name="connsiteX3" fmla="*/ 2191131 w 4057650"/>
              <a:gd name="connsiteY3" fmla="*/ 0 h 18288"/>
              <a:gd name="connsiteX4" fmla="*/ 2745676 w 4057650"/>
              <a:gd name="connsiteY4" fmla="*/ 0 h 18288"/>
              <a:gd name="connsiteX5" fmla="*/ 3340798 w 4057650"/>
              <a:gd name="connsiteY5" fmla="*/ 0 h 18288"/>
              <a:gd name="connsiteX6" fmla="*/ 4057650 w 4057650"/>
              <a:gd name="connsiteY6" fmla="*/ 0 h 18288"/>
              <a:gd name="connsiteX7" fmla="*/ 4057650 w 4057650"/>
              <a:gd name="connsiteY7" fmla="*/ 18288 h 18288"/>
              <a:gd name="connsiteX8" fmla="*/ 3381375 w 4057650"/>
              <a:gd name="connsiteY8" fmla="*/ 18288 h 18288"/>
              <a:gd name="connsiteX9" fmla="*/ 2826830 w 4057650"/>
              <a:gd name="connsiteY9" fmla="*/ 18288 h 18288"/>
              <a:gd name="connsiteX10" fmla="*/ 2272284 w 4057650"/>
              <a:gd name="connsiteY10" fmla="*/ 18288 h 18288"/>
              <a:gd name="connsiteX11" fmla="*/ 1555432 w 4057650"/>
              <a:gd name="connsiteY11" fmla="*/ 18288 h 18288"/>
              <a:gd name="connsiteX12" fmla="*/ 960310 w 4057650"/>
              <a:gd name="connsiteY12" fmla="*/ 18288 h 18288"/>
              <a:gd name="connsiteX13" fmla="*/ 0 w 4057650"/>
              <a:gd name="connsiteY13" fmla="*/ 18288 h 18288"/>
              <a:gd name="connsiteX14" fmla="*/ 0 w 4057650"/>
              <a:gd name="connsiteY14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057650" h="18288" fill="none" extrusionOk="0">
                <a:moveTo>
                  <a:pt x="0" y="0"/>
                </a:moveTo>
                <a:cubicBezTo>
                  <a:pt x="371182" y="3227"/>
                  <a:pt x="494372" y="9222"/>
                  <a:pt x="757428" y="0"/>
                </a:cubicBezTo>
                <a:cubicBezTo>
                  <a:pt x="1020484" y="-9222"/>
                  <a:pt x="1116719" y="-4357"/>
                  <a:pt x="1474279" y="0"/>
                </a:cubicBezTo>
                <a:cubicBezTo>
                  <a:pt x="1831839" y="4357"/>
                  <a:pt x="1920973" y="-11809"/>
                  <a:pt x="2191131" y="0"/>
                </a:cubicBezTo>
                <a:cubicBezTo>
                  <a:pt x="2461289" y="11809"/>
                  <a:pt x="2589480" y="-22604"/>
                  <a:pt x="2745676" y="0"/>
                </a:cubicBezTo>
                <a:cubicBezTo>
                  <a:pt x="2901872" y="22604"/>
                  <a:pt x="3136452" y="-12306"/>
                  <a:pt x="3340798" y="0"/>
                </a:cubicBezTo>
                <a:cubicBezTo>
                  <a:pt x="3545144" y="12306"/>
                  <a:pt x="3766934" y="-21556"/>
                  <a:pt x="4057650" y="0"/>
                </a:cubicBezTo>
                <a:cubicBezTo>
                  <a:pt x="4057150" y="8855"/>
                  <a:pt x="4057759" y="14521"/>
                  <a:pt x="4057650" y="18288"/>
                </a:cubicBezTo>
                <a:cubicBezTo>
                  <a:pt x="3743404" y="40125"/>
                  <a:pt x="3625516" y="-14923"/>
                  <a:pt x="3381375" y="18288"/>
                </a:cubicBezTo>
                <a:cubicBezTo>
                  <a:pt x="3137235" y="51499"/>
                  <a:pt x="2946571" y="1"/>
                  <a:pt x="2826830" y="18288"/>
                </a:cubicBezTo>
                <a:cubicBezTo>
                  <a:pt x="2707090" y="36575"/>
                  <a:pt x="2402756" y="1432"/>
                  <a:pt x="2272284" y="18288"/>
                </a:cubicBezTo>
                <a:cubicBezTo>
                  <a:pt x="2141812" y="35144"/>
                  <a:pt x="1895935" y="18199"/>
                  <a:pt x="1555432" y="18288"/>
                </a:cubicBezTo>
                <a:cubicBezTo>
                  <a:pt x="1214929" y="18377"/>
                  <a:pt x="1103072" y="14503"/>
                  <a:pt x="960310" y="18288"/>
                </a:cubicBezTo>
                <a:cubicBezTo>
                  <a:pt x="817548" y="22073"/>
                  <a:pt x="402272" y="-29359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057650" h="18288" stroke="0" extrusionOk="0">
                <a:moveTo>
                  <a:pt x="0" y="0"/>
                </a:moveTo>
                <a:cubicBezTo>
                  <a:pt x="248348" y="13145"/>
                  <a:pt x="486117" y="25042"/>
                  <a:pt x="635698" y="0"/>
                </a:cubicBezTo>
                <a:cubicBezTo>
                  <a:pt x="785279" y="-25042"/>
                  <a:pt x="917762" y="-5537"/>
                  <a:pt x="1190244" y="0"/>
                </a:cubicBezTo>
                <a:cubicBezTo>
                  <a:pt x="1462726" y="5537"/>
                  <a:pt x="1667120" y="-21232"/>
                  <a:pt x="1947672" y="0"/>
                </a:cubicBezTo>
                <a:cubicBezTo>
                  <a:pt x="2228224" y="21232"/>
                  <a:pt x="2280631" y="-21698"/>
                  <a:pt x="2583370" y="0"/>
                </a:cubicBezTo>
                <a:cubicBezTo>
                  <a:pt x="2886109" y="21698"/>
                  <a:pt x="3022941" y="19647"/>
                  <a:pt x="3219069" y="0"/>
                </a:cubicBezTo>
                <a:cubicBezTo>
                  <a:pt x="3415197" y="-19647"/>
                  <a:pt x="3747500" y="26991"/>
                  <a:pt x="4057650" y="0"/>
                </a:cubicBezTo>
                <a:cubicBezTo>
                  <a:pt x="4056752" y="7180"/>
                  <a:pt x="4057819" y="13790"/>
                  <a:pt x="4057650" y="18288"/>
                </a:cubicBezTo>
                <a:cubicBezTo>
                  <a:pt x="3865148" y="-3313"/>
                  <a:pt x="3702543" y="49468"/>
                  <a:pt x="3381375" y="18288"/>
                </a:cubicBezTo>
                <a:cubicBezTo>
                  <a:pt x="3060208" y="-12892"/>
                  <a:pt x="2956571" y="-8678"/>
                  <a:pt x="2826830" y="18288"/>
                </a:cubicBezTo>
                <a:cubicBezTo>
                  <a:pt x="2697089" y="45254"/>
                  <a:pt x="2411031" y="43154"/>
                  <a:pt x="2150555" y="18288"/>
                </a:cubicBezTo>
                <a:cubicBezTo>
                  <a:pt x="1890080" y="-6578"/>
                  <a:pt x="1741827" y="-615"/>
                  <a:pt x="1474280" y="18288"/>
                </a:cubicBezTo>
                <a:cubicBezTo>
                  <a:pt x="1206734" y="37191"/>
                  <a:pt x="998203" y="33335"/>
                  <a:pt x="838581" y="18288"/>
                </a:cubicBezTo>
                <a:cubicBezTo>
                  <a:pt x="678959" y="3241"/>
                  <a:pt x="187101" y="-13212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pt-BR" sz="4700"/>
              <a:t>Pré-requisitos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pt-BR" sz="1900"/>
          </a:p>
          <a:p>
            <a:r>
              <a:rPr lang="pt-BR" sz="1900"/>
              <a:t>- Servidor Windows com Apache (via XAMPP ou similar).</a:t>
            </a:r>
          </a:p>
          <a:p>
            <a:r>
              <a:rPr lang="pt-BR" sz="1900"/>
              <a:t>- Acesso administrativo ao servidor.</a:t>
            </a:r>
          </a:p>
          <a:p>
            <a:r>
              <a:rPr lang="pt-BR" sz="1900"/>
              <a:t>- Domínio já apontando para o IP do servidor.</a:t>
            </a:r>
          </a:p>
          <a:p>
            <a:r>
              <a:rPr lang="pt-BR" sz="1900"/>
              <a:t>- Ferramenta Win-ACME (https://www.win-acme.com/).</a:t>
            </a:r>
          </a:p>
          <a:p>
            <a:endParaRPr lang="pt-BR" sz="19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pt-BR" sz="3600"/>
              <a:t>Baixando e configurando o Win-ACME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pt-BR" sz="1900"/>
          </a:p>
          <a:p>
            <a:r>
              <a:rPr lang="pt-BR" sz="1900"/>
              <a:t>1. Baixe a versão standalone do Win-ACME.</a:t>
            </a:r>
          </a:p>
          <a:p>
            <a:r>
              <a:rPr lang="pt-BR" sz="1900"/>
              <a:t>2. Extraia para C:\win-acme.</a:t>
            </a:r>
          </a:p>
          <a:p>
            <a:r>
              <a:rPr lang="pt-BR" sz="1900"/>
              <a:t>3. Execute: wacs.exe</a:t>
            </a:r>
          </a:p>
          <a:p>
            <a:r>
              <a:rPr lang="pt-BR" sz="1900"/>
              <a:t>4. Escolha: 'M' (opções avançadas) &gt; Manual input.</a:t>
            </a:r>
          </a:p>
          <a:p>
            <a:r>
              <a:rPr lang="pt-BR" sz="1900"/>
              <a:t>5. Digite o domínio: www.ti.grupobarao.com.br, depois o sem 'www'.</a:t>
            </a:r>
          </a:p>
          <a:p>
            <a:endParaRPr lang="pt-BR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pt-BR" sz="4300"/>
              <a:t>Validação e geração do certificado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pt-BR" sz="1900"/>
          </a:p>
          <a:p>
            <a:r>
              <a:rPr lang="pt-BR" sz="1900"/>
              <a:t>1. Método: http-01 (Serve verification files from memory).</a:t>
            </a:r>
          </a:p>
          <a:p>
            <a:r>
              <a:rPr lang="pt-BR" sz="1900"/>
              <a:t>2. Tipo de chave: RSA.</a:t>
            </a:r>
          </a:p>
          <a:p>
            <a:r>
              <a:rPr lang="pt-BR" sz="1900"/>
              <a:t>3. Armazenamento: PEM encoded files.</a:t>
            </a:r>
          </a:p>
          <a:p>
            <a:r>
              <a:rPr lang="pt-BR" sz="1900"/>
              <a:t>4. Caminho: C:\xampp\apache\conf\ssl\</a:t>
            </a:r>
          </a:p>
          <a:p>
            <a:r>
              <a:rPr lang="pt-BR" sz="1900"/>
              <a:t>5. Sem senha para o arquivo PEM.</a:t>
            </a:r>
          </a:p>
          <a:p>
            <a:endParaRPr lang="pt-BR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pt-BR" sz="2000" dirty="0"/>
              <a:t>Configurar o Apache (</a:t>
            </a:r>
            <a:r>
              <a:rPr lang="pt-BR" sz="2000" dirty="0" err="1"/>
              <a:t>httpd-ssl.conf</a:t>
            </a:r>
            <a:r>
              <a:rPr lang="pt-BR" sz="2000" dirty="0"/>
              <a:t>)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pt-BR" sz="1900" dirty="0"/>
          </a:p>
          <a:p>
            <a:r>
              <a:rPr lang="pt-BR" sz="1900" dirty="0"/>
              <a:t>1. Atualize ou crie a entrada </a:t>
            </a:r>
            <a:r>
              <a:rPr lang="pt-BR" sz="1900" dirty="0" err="1"/>
              <a:t>Listen</a:t>
            </a:r>
            <a:r>
              <a:rPr lang="pt-BR" sz="1900" dirty="0"/>
              <a:t> 443.</a:t>
            </a:r>
          </a:p>
          <a:p>
            <a:r>
              <a:rPr lang="pt-BR" sz="1900" dirty="0"/>
              <a:t>2. Adicione o &lt;</a:t>
            </a:r>
            <a:r>
              <a:rPr lang="pt-BR" sz="1900" dirty="0" err="1"/>
              <a:t>VirtualHost</a:t>
            </a:r>
            <a:r>
              <a:rPr lang="pt-BR" sz="1900" dirty="0"/>
              <a:t> *:443&gt; para o domínio.</a:t>
            </a:r>
          </a:p>
          <a:p>
            <a:r>
              <a:rPr lang="pt-BR" sz="1900" dirty="0"/>
              <a:t>3. Configure caminhos para:</a:t>
            </a:r>
          </a:p>
          <a:p>
            <a:r>
              <a:rPr lang="pt-BR" sz="1900" dirty="0"/>
              <a:t>   - </a:t>
            </a:r>
            <a:r>
              <a:rPr lang="pt-BR" sz="1900" dirty="0" err="1"/>
              <a:t>SSLCertificateFile</a:t>
            </a:r>
            <a:endParaRPr lang="pt-BR" sz="1900" dirty="0"/>
          </a:p>
          <a:p>
            <a:r>
              <a:rPr lang="pt-BR" sz="1900" dirty="0"/>
              <a:t>   - </a:t>
            </a:r>
            <a:r>
              <a:rPr lang="pt-BR" sz="1900" dirty="0" err="1"/>
              <a:t>SSLCertificateKeyFile</a:t>
            </a:r>
            <a:endParaRPr lang="pt-BR" sz="1900" dirty="0"/>
          </a:p>
          <a:p>
            <a:r>
              <a:rPr lang="pt-BR" sz="1900" dirty="0"/>
              <a:t>   - </a:t>
            </a:r>
            <a:r>
              <a:rPr lang="pt-BR" sz="1900" dirty="0" err="1"/>
              <a:t>SSLCertificateChainFile</a:t>
            </a:r>
            <a:endParaRPr lang="pt-BR" sz="1900" dirty="0"/>
          </a:p>
          <a:p>
            <a:endParaRPr lang="pt-BR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pt-BR" sz="2200"/>
              <a:t>Redirecionamentos úteis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pt-BR" sz="1900"/>
          </a:p>
          <a:p>
            <a:r>
              <a:rPr lang="pt-BR" sz="1900"/>
              <a:t>1. Redirecionar www para não-www:</a:t>
            </a:r>
          </a:p>
          <a:p>
            <a:r>
              <a:rPr lang="pt-BR" sz="1900"/>
              <a:t>&lt;VirtualHost *:443&gt;</a:t>
            </a:r>
          </a:p>
          <a:p>
            <a:r>
              <a:rPr lang="pt-BR" sz="1900"/>
              <a:t>  ServerName www.ti.grupobarao.com.br</a:t>
            </a:r>
          </a:p>
          <a:p>
            <a:r>
              <a:rPr lang="pt-BR" sz="1900"/>
              <a:t>  Redirect permanent / https://ti.grupobarao.com.br/</a:t>
            </a:r>
          </a:p>
          <a:p>
            <a:r>
              <a:rPr lang="pt-BR" sz="1900"/>
              <a:t>&lt;/VirtualHost&gt;</a:t>
            </a:r>
          </a:p>
          <a:p>
            <a:endParaRPr lang="pt-BR" sz="1900"/>
          </a:p>
          <a:p>
            <a:r>
              <a:rPr lang="pt-BR" sz="1900"/>
              <a:t>2. Redirecionar HTTP para HTTPS:</a:t>
            </a:r>
          </a:p>
          <a:p>
            <a:r>
              <a:rPr lang="pt-BR" sz="1900"/>
              <a:t>&lt;VirtualHost *:80&gt;</a:t>
            </a:r>
          </a:p>
          <a:p>
            <a:r>
              <a:rPr lang="pt-BR" sz="1900"/>
              <a:t>  ServerName ti.grupobarao.com.br</a:t>
            </a:r>
          </a:p>
          <a:p>
            <a:r>
              <a:rPr lang="pt-BR" sz="1900"/>
              <a:t>  Redirect permanent / https://ti.grupobarao.com.br/</a:t>
            </a:r>
          </a:p>
          <a:p>
            <a:r>
              <a:rPr lang="pt-BR" sz="1900"/>
              <a:t>&lt;/VirtualHost&gt;</a:t>
            </a:r>
          </a:p>
          <a:p>
            <a:endParaRPr lang="pt-BR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548640"/>
            <a:ext cx="2700645" cy="5431536"/>
          </a:xfrm>
        </p:spPr>
        <p:txBody>
          <a:bodyPr>
            <a:normAutofit/>
          </a:bodyPr>
          <a:lstStyle/>
          <a:p>
            <a:r>
              <a:rPr lang="pt-BR" sz="4300"/>
              <a:t>Testes e Renovação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347917" y="3261001"/>
            <a:ext cx="4480560" cy="13716"/>
          </a:xfrm>
          <a:custGeom>
            <a:avLst/>
            <a:gdLst>
              <a:gd name="connsiteX0" fmla="*/ 0 w 4480560"/>
              <a:gd name="connsiteY0" fmla="*/ 0 h 13716"/>
              <a:gd name="connsiteX1" fmla="*/ 595274 w 4480560"/>
              <a:gd name="connsiteY1" fmla="*/ 0 h 13716"/>
              <a:gd name="connsiteX2" fmla="*/ 1100938 w 4480560"/>
              <a:gd name="connsiteY2" fmla="*/ 0 h 13716"/>
              <a:gd name="connsiteX3" fmla="*/ 1651406 w 4480560"/>
              <a:gd name="connsiteY3" fmla="*/ 0 h 13716"/>
              <a:gd name="connsiteX4" fmla="*/ 2336292 w 4480560"/>
              <a:gd name="connsiteY4" fmla="*/ 0 h 13716"/>
              <a:gd name="connsiteX5" fmla="*/ 2931566 w 4480560"/>
              <a:gd name="connsiteY5" fmla="*/ 0 h 13716"/>
              <a:gd name="connsiteX6" fmla="*/ 3482035 w 4480560"/>
              <a:gd name="connsiteY6" fmla="*/ 0 h 13716"/>
              <a:gd name="connsiteX7" fmla="*/ 4480560 w 4480560"/>
              <a:gd name="connsiteY7" fmla="*/ 0 h 13716"/>
              <a:gd name="connsiteX8" fmla="*/ 4480560 w 4480560"/>
              <a:gd name="connsiteY8" fmla="*/ 13716 h 13716"/>
              <a:gd name="connsiteX9" fmla="*/ 3840480 w 4480560"/>
              <a:gd name="connsiteY9" fmla="*/ 13716 h 13716"/>
              <a:gd name="connsiteX10" fmla="*/ 3290011 w 4480560"/>
              <a:gd name="connsiteY10" fmla="*/ 13716 h 13716"/>
              <a:gd name="connsiteX11" fmla="*/ 2560320 w 4480560"/>
              <a:gd name="connsiteY11" fmla="*/ 13716 h 13716"/>
              <a:gd name="connsiteX12" fmla="*/ 1965046 w 4480560"/>
              <a:gd name="connsiteY12" fmla="*/ 13716 h 13716"/>
              <a:gd name="connsiteX13" fmla="*/ 1459382 w 4480560"/>
              <a:gd name="connsiteY13" fmla="*/ 13716 h 13716"/>
              <a:gd name="connsiteX14" fmla="*/ 774497 w 4480560"/>
              <a:gd name="connsiteY14" fmla="*/ 13716 h 13716"/>
              <a:gd name="connsiteX15" fmla="*/ 0 w 4480560"/>
              <a:gd name="connsiteY15" fmla="*/ 13716 h 13716"/>
              <a:gd name="connsiteX16" fmla="*/ 0 w 4480560"/>
              <a:gd name="connsiteY16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480560" h="13716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273" y="3379"/>
                  <a:pt x="4480768" y="9289"/>
                  <a:pt x="4480560" y="13716"/>
                </a:cubicBezTo>
                <a:cubicBezTo>
                  <a:pt x="4314132" y="10352"/>
                  <a:pt x="4028383" y="32060"/>
                  <a:pt x="3840480" y="13716"/>
                </a:cubicBezTo>
                <a:cubicBezTo>
                  <a:pt x="3652577" y="-4628"/>
                  <a:pt x="3547615" y="-1724"/>
                  <a:pt x="3290011" y="13716"/>
                </a:cubicBezTo>
                <a:cubicBezTo>
                  <a:pt x="3032407" y="29156"/>
                  <a:pt x="2830268" y="4147"/>
                  <a:pt x="2560320" y="13716"/>
                </a:cubicBezTo>
                <a:cubicBezTo>
                  <a:pt x="2290372" y="23285"/>
                  <a:pt x="2147422" y="2156"/>
                  <a:pt x="1965046" y="13716"/>
                </a:cubicBezTo>
                <a:cubicBezTo>
                  <a:pt x="1782670" y="25276"/>
                  <a:pt x="1689791" y="36108"/>
                  <a:pt x="1459382" y="13716"/>
                </a:cubicBezTo>
                <a:cubicBezTo>
                  <a:pt x="1228973" y="-8676"/>
                  <a:pt x="915486" y="31929"/>
                  <a:pt x="774497" y="13716"/>
                </a:cubicBezTo>
                <a:cubicBezTo>
                  <a:pt x="633508" y="-4497"/>
                  <a:pt x="361442" y="-15679"/>
                  <a:pt x="0" y="13716"/>
                </a:cubicBezTo>
                <a:cubicBezTo>
                  <a:pt x="-362" y="8190"/>
                  <a:pt x="-434" y="6098"/>
                  <a:pt x="0" y="0"/>
                </a:cubicBezTo>
                <a:close/>
              </a:path>
              <a:path w="4480560" h="13716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0360" y="3832"/>
                  <a:pt x="4481152" y="9314"/>
                  <a:pt x="4480560" y="13716"/>
                </a:cubicBezTo>
                <a:cubicBezTo>
                  <a:pt x="4279652" y="-11422"/>
                  <a:pt x="4200762" y="36994"/>
                  <a:pt x="3930091" y="13716"/>
                </a:cubicBezTo>
                <a:cubicBezTo>
                  <a:pt x="3659420" y="-9562"/>
                  <a:pt x="3456052" y="17722"/>
                  <a:pt x="3290011" y="13716"/>
                </a:cubicBezTo>
                <a:cubicBezTo>
                  <a:pt x="3123970" y="9710"/>
                  <a:pt x="2882392" y="28246"/>
                  <a:pt x="2649931" y="13716"/>
                </a:cubicBezTo>
                <a:cubicBezTo>
                  <a:pt x="2417470" y="-814"/>
                  <a:pt x="2238426" y="2765"/>
                  <a:pt x="2054657" y="13716"/>
                </a:cubicBezTo>
                <a:cubicBezTo>
                  <a:pt x="1870888" y="24667"/>
                  <a:pt x="1566368" y="40468"/>
                  <a:pt x="1324966" y="13716"/>
                </a:cubicBezTo>
                <a:cubicBezTo>
                  <a:pt x="1083564" y="-13036"/>
                  <a:pt x="787410" y="6374"/>
                  <a:pt x="595274" y="13716"/>
                </a:cubicBezTo>
                <a:cubicBezTo>
                  <a:pt x="403138" y="21058"/>
                  <a:pt x="169622" y="5927"/>
                  <a:pt x="0" y="13716"/>
                </a:cubicBezTo>
                <a:cubicBezTo>
                  <a:pt x="-475" y="8699"/>
                  <a:pt x="-565" y="440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4813" y="552091"/>
            <a:ext cx="4668251" cy="5431536"/>
          </a:xfrm>
        </p:spPr>
        <p:txBody>
          <a:bodyPr anchor="ctr">
            <a:normAutofit/>
          </a:bodyPr>
          <a:lstStyle/>
          <a:p>
            <a:endParaRPr lang="pt-BR" sz="1900"/>
          </a:p>
          <a:p>
            <a:r>
              <a:rPr lang="pt-BR" sz="1900"/>
              <a:t>- Teste em: https://ti.grupobarao.com.br</a:t>
            </a:r>
          </a:p>
          <a:p>
            <a:r>
              <a:rPr lang="pt-BR" sz="1900"/>
              <a:t>- Use ferramentas como curl com user-agent do Facebook.</a:t>
            </a:r>
          </a:p>
          <a:p>
            <a:r>
              <a:rPr lang="pt-BR" sz="1900"/>
              <a:t>- Renovação automática já configurada via agendador de tarefas.</a:t>
            </a:r>
          </a:p>
          <a:p>
            <a:endParaRPr lang="pt-BR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348</Words>
  <Application>Microsoft Office PowerPoint</Application>
  <PresentationFormat>Apresentação na tela (4:3)</PresentationFormat>
  <Paragraphs>48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Configuração de SSL com Let's Encrypt no Apache (XAMPP/Windows)</vt:lpstr>
      <vt:lpstr>Pré-requisitos</vt:lpstr>
      <vt:lpstr>Baixando e configurando o Win-ACME</vt:lpstr>
      <vt:lpstr>Validação e geração do certificado</vt:lpstr>
      <vt:lpstr>Configurar o Apache (httpd-ssl.conf)</vt:lpstr>
      <vt:lpstr>Redirecionamentos úteis</vt:lpstr>
      <vt:lpstr>Testes e Renovação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Miguel Jorge El Ness</cp:lastModifiedBy>
  <cp:revision>2</cp:revision>
  <dcterms:created xsi:type="dcterms:W3CDTF">2013-01-27T09:14:16Z</dcterms:created>
  <dcterms:modified xsi:type="dcterms:W3CDTF">2025-06-02T13:20:58Z</dcterms:modified>
  <cp:category/>
</cp:coreProperties>
</file>